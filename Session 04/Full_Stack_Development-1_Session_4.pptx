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- Full Stack Development - 1, Session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browser parses HTML and builds a tree. JavaScript can access and modify this tree - that is how pages become dynamic.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ECMAScript is the rulebook; JavaScript is the language that follows it. ES6 (2015) was the biggest 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click the button and show the alert. Note that in addEventListener we pass greet without parentheses - we do not call it ourselves.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Named: can be called before its definition (hoisting). Anonymous: commonly used as callbacks and event handlers.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TDZ = Temporal Dead Zone: let and const cannot be used before the line where they are declared.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typeof to check a value's type, e.g. typeof 42 gives 'number'. Remember: typeof null returns 'object' - a known quirk.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7770"/>
            <a:ext cx="9144000" cy="125730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2" y="237744"/>
            <a:ext cx="1097280" cy="484632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600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7770"/>
            <a:ext cx="9144000" cy="125730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2" y="237744"/>
            <a:ext cx="1097280" cy="484632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274320"/>
            <a:ext cx="70408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Full Stack Development - 1</a:t>
            </a:r>
            <a:endParaRPr lang="en-US" sz="4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2"/>
                </a:solidFill>
              </a:rPr>
              <a:t>Session 4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DOM - Document Object Model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DOM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is a programming interface for web pages.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browser converts HTML into a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tree of objects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(nodes).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Every tag, attribute and text becomes a node.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JavaScript uses the DOM to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read, change, add or remove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elements.</a:t>
            </a:r>
            <a:endParaRPr lang="en-US" sz="1400" dirty="0"/>
          </a:p>
        </p:txBody>
      </p:sp>
      <p:sp>
        <p:nvSpPr>
          <p:cNvPr id="4" name="dom-code"/>
          <p:cNvSpPr txBox="1"/>
          <p:nvPr/>
        </p:nvSpPr>
        <p:spPr>
          <a:xfrm>
            <a:off x="457200" y="3611880"/>
            <a:ext cx="3931920" cy="77724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01600" tIns="152400" rIns="1524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document.getElementById("title")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.textContent = "Hello DOM!";</a:t>
            </a:r>
            <a:endParaRPr lang="en-US" sz="1200" dirty="0"/>
          </a:p>
        </p:txBody>
      </p:sp>
      <p:sp>
        <p:nvSpPr>
          <p:cNvPr id="5" name="dom-panel"/>
          <p:cNvSpPr/>
          <p:nvPr/>
        </p:nvSpPr>
        <p:spPr>
          <a:xfrm>
            <a:off x="4572000" y="1143000"/>
            <a:ext cx="4114800" cy="352044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ree-link"/>
          <p:cNvSpPr/>
          <p:nvPr/>
        </p:nvSpPr>
        <p:spPr>
          <a:xfrm>
            <a:off x="6126480" y="1691640"/>
            <a:ext cx="0" cy="4572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7" name="tree-link"/>
          <p:cNvSpPr/>
          <p:nvPr/>
        </p:nvSpPr>
        <p:spPr>
          <a:xfrm flipH="1">
            <a:off x="5074920" y="2514600"/>
            <a:ext cx="1051560" cy="4572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8" name="tree-link"/>
          <p:cNvSpPr/>
          <p:nvPr/>
        </p:nvSpPr>
        <p:spPr>
          <a:xfrm>
            <a:off x="6126480" y="2514600"/>
            <a:ext cx="1051560" cy="4572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9" name="tree-link"/>
          <p:cNvSpPr/>
          <p:nvPr/>
        </p:nvSpPr>
        <p:spPr>
          <a:xfrm>
            <a:off x="5074920" y="3337560"/>
            <a:ext cx="0" cy="4572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0" name="tree-link"/>
          <p:cNvSpPr/>
          <p:nvPr/>
        </p:nvSpPr>
        <p:spPr>
          <a:xfrm flipH="1">
            <a:off x="6172200" y="3337560"/>
            <a:ext cx="1005840" cy="4572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1" name="tree-link"/>
          <p:cNvSpPr/>
          <p:nvPr/>
        </p:nvSpPr>
        <p:spPr>
          <a:xfrm>
            <a:off x="7178040" y="3337560"/>
            <a:ext cx="0" cy="4572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2" name="tree-link"/>
          <p:cNvSpPr/>
          <p:nvPr/>
        </p:nvSpPr>
        <p:spPr>
          <a:xfrm>
            <a:off x="7178040" y="3337560"/>
            <a:ext cx="1005840" cy="4572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3" name="node-document"/>
          <p:cNvSpPr txBox="1"/>
          <p:nvPr/>
        </p:nvSpPr>
        <p:spPr>
          <a:xfrm>
            <a:off x="5692140" y="1325880"/>
            <a:ext cx="86868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endParaRPr lang="en-US" sz="1200" dirty="0"/>
          </a:p>
        </p:txBody>
      </p:sp>
      <p:sp>
        <p:nvSpPr>
          <p:cNvPr id="14" name="node-html"/>
          <p:cNvSpPr txBox="1"/>
          <p:nvPr/>
        </p:nvSpPr>
        <p:spPr>
          <a:xfrm>
            <a:off x="5692140" y="2148840"/>
            <a:ext cx="86868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200" dirty="0"/>
          </a:p>
        </p:txBody>
      </p:sp>
      <p:sp>
        <p:nvSpPr>
          <p:cNvPr id="15" name="node-head"/>
          <p:cNvSpPr txBox="1"/>
          <p:nvPr/>
        </p:nvSpPr>
        <p:spPr>
          <a:xfrm>
            <a:off x="4640580" y="2971800"/>
            <a:ext cx="86868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200" dirty="0"/>
          </a:p>
        </p:txBody>
      </p:sp>
      <p:sp>
        <p:nvSpPr>
          <p:cNvPr id="16" name="node-body"/>
          <p:cNvSpPr txBox="1"/>
          <p:nvPr/>
        </p:nvSpPr>
        <p:spPr>
          <a:xfrm>
            <a:off x="6743700" y="2971800"/>
            <a:ext cx="86868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200" dirty="0"/>
          </a:p>
        </p:txBody>
      </p:sp>
      <p:sp>
        <p:nvSpPr>
          <p:cNvPr id="17" name="node-title"/>
          <p:cNvSpPr txBox="1"/>
          <p:nvPr/>
        </p:nvSpPr>
        <p:spPr>
          <a:xfrm>
            <a:off x="4640580" y="3794760"/>
            <a:ext cx="868680" cy="36576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&lt;title&gt;</a:t>
            </a:r>
            <a:endParaRPr lang="en-US" sz="1200" dirty="0"/>
          </a:p>
        </p:txBody>
      </p:sp>
      <p:sp>
        <p:nvSpPr>
          <p:cNvPr id="18" name="node-h1"/>
          <p:cNvSpPr txBox="1"/>
          <p:nvPr/>
        </p:nvSpPr>
        <p:spPr>
          <a:xfrm>
            <a:off x="5737860" y="3794760"/>
            <a:ext cx="868680" cy="36576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</a:t>
            </a:r>
            <a:endParaRPr lang="en-US" sz="1200" dirty="0"/>
          </a:p>
        </p:txBody>
      </p:sp>
      <p:sp>
        <p:nvSpPr>
          <p:cNvPr id="19" name="node-p"/>
          <p:cNvSpPr txBox="1"/>
          <p:nvPr/>
        </p:nvSpPr>
        <p:spPr>
          <a:xfrm>
            <a:off x="6743700" y="3794760"/>
            <a:ext cx="868680" cy="36576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200" dirty="0"/>
          </a:p>
        </p:txBody>
      </p:sp>
      <p:sp>
        <p:nvSpPr>
          <p:cNvPr id="20" name="node-button"/>
          <p:cNvSpPr txBox="1"/>
          <p:nvPr/>
        </p:nvSpPr>
        <p:spPr>
          <a:xfrm>
            <a:off x="7749540" y="3794760"/>
            <a:ext cx="868680" cy="36576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&lt;button&gt;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42793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DOM tree of an HTML page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What is ECMAScript?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ECMAScript (ES)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is the standard (specification) for scripting languages - ECMA-262.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Maintained by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Ecma International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JavaScript is the most popular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implementation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of ECMAScript.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Since ES6 (2015), a new version is released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every year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4" name="es-card-1"/>
          <p:cNvSpPr/>
          <p:nvPr/>
        </p:nvSpPr>
        <p:spPr>
          <a:xfrm>
            <a:off x="4937760" y="1188720"/>
            <a:ext cx="37490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es-accent-1"/>
          <p:cNvSpPr/>
          <p:nvPr/>
        </p:nvSpPr>
        <p:spPr>
          <a:xfrm>
            <a:off x="4937760" y="1298448"/>
            <a:ext cx="73152" cy="78638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166360" y="1261872"/>
            <a:ext cx="3429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ES5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2009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strict mode, JSON support, Array methods</a:t>
            </a:r>
            <a:endParaRPr lang="en-US" sz="1500" dirty="0"/>
          </a:p>
        </p:txBody>
      </p:sp>
      <p:sp>
        <p:nvSpPr>
          <p:cNvPr id="7" name="es-card-2"/>
          <p:cNvSpPr/>
          <p:nvPr/>
        </p:nvSpPr>
        <p:spPr>
          <a:xfrm>
            <a:off x="4937760" y="2331720"/>
            <a:ext cx="37490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es-accent-2"/>
          <p:cNvSpPr/>
          <p:nvPr/>
        </p:nvSpPr>
        <p:spPr>
          <a:xfrm>
            <a:off x="4937760" y="2441448"/>
            <a:ext cx="73152" cy="78638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166360" y="2404872"/>
            <a:ext cx="3429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ES6 / ES2015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2015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let &amp; const, arrow functions, classes, modules, promises</a:t>
            </a:r>
            <a:endParaRPr lang="en-US" sz="1500" dirty="0"/>
          </a:p>
        </p:txBody>
      </p:sp>
      <p:sp>
        <p:nvSpPr>
          <p:cNvPr id="10" name="es-card-3"/>
          <p:cNvSpPr/>
          <p:nvPr/>
        </p:nvSpPr>
        <p:spPr>
          <a:xfrm>
            <a:off x="4937760" y="3474720"/>
            <a:ext cx="37490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es-accent-3"/>
          <p:cNvSpPr/>
          <p:nvPr/>
        </p:nvSpPr>
        <p:spPr>
          <a:xfrm>
            <a:off x="4937760" y="3584448"/>
            <a:ext cx="73152" cy="78638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66360" y="3547872"/>
            <a:ext cx="3429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ES2016+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Every year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async / await, optional chaining, and more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User Events - Click &amp; Function Call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Event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= an action by the user or browser.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An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event handler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(function) runs when the event happens.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Click on a button  →  function is called.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Common events</a:t>
            </a:r>
            <a:endParaRPr lang="en-US" sz="1300" dirty="0"/>
          </a:p>
        </p:txBody>
      </p:sp>
      <p:sp>
        <p:nvSpPr>
          <p:cNvPr id="5" name="event-chip-click"/>
          <p:cNvSpPr txBox="1"/>
          <p:nvPr/>
        </p:nvSpPr>
        <p:spPr>
          <a:xfrm>
            <a:off x="457200" y="3429000"/>
            <a:ext cx="114300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click</a:t>
            </a:r>
            <a:endParaRPr lang="en-US" sz="1100" dirty="0"/>
          </a:p>
        </p:txBody>
      </p:sp>
      <p:sp>
        <p:nvSpPr>
          <p:cNvPr id="6" name="event-chip-dblclick"/>
          <p:cNvSpPr txBox="1"/>
          <p:nvPr/>
        </p:nvSpPr>
        <p:spPr>
          <a:xfrm>
            <a:off x="1691640" y="3429000"/>
            <a:ext cx="114300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dblclick</a:t>
            </a:r>
            <a:endParaRPr lang="en-US" sz="1100" dirty="0"/>
          </a:p>
        </p:txBody>
      </p:sp>
      <p:sp>
        <p:nvSpPr>
          <p:cNvPr id="7" name="event-chip-mouseover"/>
          <p:cNvSpPr txBox="1"/>
          <p:nvPr/>
        </p:nvSpPr>
        <p:spPr>
          <a:xfrm>
            <a:off x="2926080" y="3429000"/>
            <a:ext cx="114300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mouseover</a:t>
            </a:r>
            <a:endParaRPr lang="en-US" sz="1100" dirty="0"/>
          </a:p>
        </p:txBody>
      </p:sp>
      <p:sp>
        <p:nvSpPr>
          <p:cNvPr id="8" name="event-chip-keydown"/>
          <p:cNvSpPr txBox="1"/>
          <p:nvPr/>
        </p:nvSpPr>
        <p:spPr>
          <a:xfrm>
            <a:off x="457200" y="3886200"/>
            <a:ext cx="114300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keydown</a:t>
            </a:r>
            <a:endParaRPr lang="en-US" sz="1100" dirty="0"/>
          </a:p>
        </p:txBody>
      </p:sp>
      <p:sp>
        <p:nvSpPr>
          <p:cNvPr id="9" name="event-chip-change"/>
          <p:cNvSpPr txBox="1"/>
          <p:nvPr/>
        </p:nvSpPr>
        <p:spPr>
          <a:xfrm>
            <a:off x="1691640" y="3886200"/>
            <a:ext cx="114300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change</a:t>
            </a:r>
            <a:endParaRPr lang="en-US" sz="1100" dirty="0"/>
          </a:p>
        </p:txBody>
      </p:sp>
      <p:sp>
        <p:nvSpPr>
          <p:cNvPr id="10" name="event-chip-submit"/>
          <p:cNvSpPr txBox="1"/>
          <p:nvPr/>
        </p:nvSpPr>
        <p:spPr>
          <a:xfrm>
            <a:off x="2926080" y="3886200"/>
            <a:ext cx="114300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submit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11430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1. Using onclick in HTML</a:t>
            </a:r>
            <a:endParaRPr lang="en-US" sz="1200" dirty="0"/>
          </a:p>
        </p:txBody>
      </p:sp>
      <p:sp>
        <p:nvSpPr>
          <p:cNvPr id="12" name="event-code-1"/>
          <p:cNvSpPr txBox="1"/>
          <p:nvPr/>
        </p:nvSpPr>
        <p:spPr>
          <a:xfrm>
            <a:off x="4389120" y="1444752"/>
            <a:ext cx="4297680" cy="160020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01600" tIns="152400" rIns="152400" bIns="1016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onclick="greet()"&gt;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Click 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greet()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alert("Hello, Student!");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3154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2. Using addEventListener</a:t>
            </a:r>
            <a:endParaRPr lang="en-US" sz="1200" dirty="0"/>
          </a:p>
        </p:txBody>
      </p:sp>
      <p:sp>
        <p:nvSpPr>
          <p:cNvPr id="14" name="event-code-2"/>
          <p:cNvSpPr txBox="1"/>
          <p:nvPr/>
        </p:nvSpPr>
        <p:spPr>
          <a:xfrm>
            <a:off x="4389120" y="3456432"/>
            <a:ext cx="4297680" cy="8686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01600" tIns="152400" rIns="152400" bIns="1016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btn = document.querySelector("button");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btn.addEventListener("click", greet);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Functions: Named &amp; Anonymous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function is a reusable block of code. There are two types:</a:t>
            </a:r>
            <a:endParaRPr lang="en-US" sz="1400" dirty="0"/>
          </a:p>
        </p:txBody>
      </p:sp>
      <p:sp>
        <p:nvSpPr>
          <p:cNvPr id="4" name="named-header"/>
          <p:cNvSpPr txBox="1"/>
          <p:nvPr/>
        </p:nvSpPr>
        <p:spPr>
          <a:xfrm>
            <a:off x="457200" y="1463040"/>
            <a:ext cx="4023360" cy="41148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152400" rIns="15240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1. Named Function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385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Has a name; called using that name.</a:t>
            </a:r>
            <a:endParaRPr lang="en-US" sz="1300" dirty="0"/>
          </a:p>
        </p:txBody>
      </p:sp>
      <p:sp>
        <p:nvSpPr>
          <p:cNvPr id="6" name="named-code"/>
          <p:cNvSpPr txBox="1"/>
          <p:nvPr/>
        </p:nvSpPr>
        <p:spPr>
          <a:xfrm>
            <a:off x="457200" y="2487168"/>
            <a:ext cx="4023360" cy="219456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01600" tIns="152400" rIns="1524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add(a, b)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 + b;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console.log(add(2, 3)); // 5</a:t>
            </a:r>
            <a:endParaRPr lang="en-US" sz="1200" dirty="0"/>
          </a:p>
        </p:txBody>
      </p:sp>
      <p:sp>
        <p:nvSpPr>
          <p:cNvPr id="7" name="anonymous-header"/>
          <p:cNvSpPr txBox="1"/>
          <p:nvPr/>
        </p:nvSpPr>
        <p:spPr>
          <a:xfrm>
            <a:off x="4663440" y="1463040"/>
            <a:ext cx="4023360" cy="41148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152400" rIns="15240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2. Anonymous Function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9385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Has no name; stored in a variable or used as a callback.</a:t>
            </a:r>
            <a:endParaRPr lang="en-US" sz="1300" dirty="0"/>
          </a:p>
        </p:txBody>
      </p:sp>
      <p:sp>
        <p:nvSpPr>
          <p:cNvPr id="9" name="anonymous-code"/>
          <p:cNvSpPr txBox="1"/>
          <p:nvPr/>
        </p:nvSpPr>
        <p:spPr>
          <a:xfrm>
            <a:off x="4663440" y="2487168"/>
            <a:ext cx="4023360" cy="219456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01600" tIns="152400" rIns="1524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add = function (a, b)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 + b;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console.log(add(2, 3)); // 5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setTimeout(function 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console.log("Hi!");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1000);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Variables: var, let &amp; const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Variable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= a named container used to store data in memory.</a:t>
            </a:r>
            <a:endParaRPr lang="en-US" sz="1400" dirty="0"/>
          </a:p>
        </p:txBody>
      </p:sp>
      <p:graphicFrame>
        <p:nvGraphicFramePr>
          <p:cNvPr id="7" name="variable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463040"/>
                <a:gridCol w="146304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Keyword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Scope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Re-declare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Re-assign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Hoisting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Function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Hoisted (undefined)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Block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Hoisted (TDZ)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Block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Hoisted (TDZ)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variables-code"/>
          <p:cNvSpPr txBox="1"/>
          <p:nvPr/>
        </p:nvSpPr>
        <p:spPr>
          <a:xfrm>
            <a:off x="457200" y="3246120"/>
            <a:ext cx="4572000" cy="146304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01600" tIns="152400" rIns="152400" bIns="1016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 = 10;     // old style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b = 20;     // can change later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 = 30;   // fixed value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25;         // OK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35;         // Error!</a:t>
            </a:r>
            <a:endParaRPr lang="en-US" sz="1200" dirty="0"/>
          </a:p>
        </p:txBody>
      </p:sp>
      <p:sp>
        <p:nvSpPr>
          <p:cNvPr id="6" name="best-practice"/>
          <p:cNvSpPr txBox="1"/>
          <p:nvPr/>
        </p:nvSpPr>
        <p:spPr>
          <a:xfrm>
            <a:off x="5303520" y="3246120"/>
            <a:ext cx="33832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25400">
            <a:solidFill>
              <a:schemeClr val="accent2"/>
            </a:solidFill>
          </a:ln>
        </p:spPr>
        <p:txBody>
          <a:bodyPr wrap="square" lIns="101600" tIns="177800" rIns="1778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Best practice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Use const by default, let when the value changes, and avoid var.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7432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Data Types in JavaScript</a:t>
            </a:r>
            <a:endParaRPr lang="en-US" sz="2800" dirty="0"/>
          </a:p>
        </p:txBody>
      </p:sp>
      <p:sp>
        <p:nvSpPr>
          <p:cNvPr id="3" name="primitive-card"/>
          <p:cNvSpPr/>
          <p:nvPr/>
        </p:nvSpPr>
        <p:spPr>
          <a:xfrm>
            <a:off x="457200" y="1143000"/>
            <a:ext cx="4023360" cy="3611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primitive-header"/>
          <p:cNvSpPr txBox="1"/>
          <p:nvPr/>
        </p:nvSpPr>
        <p:spPr>
          <a:xfrm>
            <a:off x="457200" y="1143000"/>
            <a:ext cx="402336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Primitive Data Types</a:t>
            </a:r>
            <a:endParaRPr lang="en-US" sz="1600" dirty="0"/>
          </a:p>
        </p:txBody>
      </p:sp>
      <p:sp>
        <p:nvSpPr>
          <p:cNvPr id="5" name="primitive-list"/>
          <p:cNvSpPr txBox="1"/>
          <p:nvPr/>
        </p:nvSpPr>
        <p:spPr>
          <a:xfrm>
            <a:off x="640080" y="173736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String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–  "Hello"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Number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–  42, 3.14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Boolean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–  true / false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Undefined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–  no value assigned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Null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–  intentional empty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BigInt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–  123n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Symbol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–  Symbol('id')</a:t>
            </a:r>
            <a:endParaRPr lang="en-US" sz="1500" dirty="0"/>
          </a:p>
        </p:txBody>
      </p:sp>
      <p:sp>
        <p:nvSpPr>
          <p:cNvPr id="6" name="primitive-note"/>
          <p:cNvSpPr txBox="1"/>
          <p:nvPr/>
        </p:nvSpPr>
        <p:spPr>
          <a:xfrm>
            <a:off x="640080" y="4297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tx2"/>
                </a:solidFill>
              </a:rPr>
              <a:t>Stored by value • immutable</a:t>
            </a:r>
            <a:endParaRPr lang="en-US" sz="1200" dirty="0"/>
          </a:p>
        </p:txBody>
      </p:sp>
      <p:sp>
        <p:nvSpPr>
          <p:cNvPr id="7" name="nonprimitive-card"/>
          <p:cNvSpPr/>
          <p:nvPr/>
        </p:nvSpPr>
        <p:spPr>
          <a:xfrm>
            <a:off x="4663440" y="1143000"/>
            <a:ext cx="4023360" cy="3611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nonprimitive-header"/>
          <p:cNvSpPr txBox="1"/>
          <p:nvPr/>
        </p:nvSpPr>
        <p:spPr>
          <a:xfrm>
            <a:off x="4663440" y="1143000"/>
            <a:ext cx="4023360" cy="4572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Non-Primitive Data Types</a:t>
            </a:r>
            <a:endParaRPr lang="en-US" sz="1600" dirty="0"/>
          </a:p>
        </p:txBody>
      </p:sp>
      <p:sp>
        <p:nvSpPr>
          <p:cNvPr id="9" name="nonprimitive-list"/>
          <p:cNvSpPr txBox="1"/>
          <p:nvPr/>
        </p:nvSpPr>
        <p:spPr>
          <a:xfrm>
            <a:off x="4846320" y="173736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Object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–  { name: "Ravi" }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Array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–  [1, 2, 3]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Function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–  function () { }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Date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–  new Date()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Map / Set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 –  collections</a:t>
            </a:r>
            <a:endParaRPr lang="en-US" sz="1500" dirty="0"/>
          </a:p>
        </p:txBody>
      </p:sp>
      <p:sp>
        <p:nvSpPr>
          <p:cNvPr id="10" name="nonprimitive-note"/>
          <p:cNvSpPr txBox="1"/>
          <p:nvPr/>
        </p:nvSpPr>
        <p:spPr>
          <a:xfrm>
            <a:off x="4846320" y="4297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chemeClr val="tx2"/>
                </a:solidFill>
              </a:rPr>
              <a:t>Stored by reference • mutable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A Online">
  <a:themeElements>
    <a:clrScheme name="GLA Online">
      <a:dk1>
        <a:srgbClr val="262626"/>
      </a:dk1>
      <a:lt1>
        <a:srgbClr val="FFFFFF"/>
      </a:lt1>
      <a:dk2>
        <a:srgbClr val="2E6B30"/>
      </a:dk2>
      <a:lt2>
        <a:srgbClr val="EAF6EC"/>
      </a:lt2>
      <a:accent1>
        <a:srgbClr val="00B050"/>
      </a:accent1>
      <a:accent2>
        <a:srgbClr val="FFC000"/>
      </a:accent2>
      <a:accent3>
        <a:srgbClr val="2E6B30"/>
      </a:accent3>
      <a:accent4>
        <a:srgbClr val="7FC97F"/>
      </a:accent4>
      <a:accent5>
        <a:srgbClr val="F59E0B"/>
      </a:accent5>
      <a:accent6>
        <a:srgbClr val="5B8C5A"/>
      </a:accent6>
      <a:hlink>
        <a:srgbClr val="00B050"/>
      </a:hlink>
      <a:folHlink>
        <a:srgbClr val="2E6B30"/>
      </a:folHlink>
    </a:clrScheme>
    <a:fontScheme name="GLA Onlin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Stack Development - 1 : Session 4</dc:title>
  <dc:subject>PptxGenJS Presentation</dc:subject>
  <dc:creator>PptxGenJS</dc:creator>
  <cp:lastModifiedBy>PptxGenJS</cp:lastModifiedBy>
  <cp:revision>1</cp:revision>
  <dcterms:created xsi:type="dcterms:W3CDTF">2026-10-23T14:23:51Z</dcterms:created>
  <dcterms:modified xsi:type="dcterms:W3CDTF">2026-10-23T14:23:51Z</dcterms:modified>
</cp:coreProperties>
</file>