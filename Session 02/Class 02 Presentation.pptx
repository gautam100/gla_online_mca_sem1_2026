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9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1340" y="2700037"/>
            <a:ext cx="3069321" cy="145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4293" y="316487"/>
            <a:ext cx="1519770" cy="7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331720"/>
            <a:ext cx="9994392" cy="210312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/>
              <a:t>Full Stack Development - 1</a:t>
            </a:r>
          </a:p>
          <a:p>
            <a:pPr algn="ctr">
              <a:spcBef>
                <a:spcPts val="1200"/>
              </a:spcBef>
            </a:pPr>
            <a:r>
              <a:rPr lang="en-US" sz="3200" b="0" dirty="0">
                <a:solidFill>
                  <a:srgbClr val="2E6B34"/>
                </a:solidFill>
              </a:rPr>
              <a:t>Session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Web Forms: Nitty-Gritty</a:t>
            </a:r>
          </a:p>
        </p:txBody>
      </p:sp>
      <p:sp>
        <p:nvSpPr>
          <p:cNvPr id="11" name="Code Caption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HTML code</a:t>
            </a:r>
          </a:p>
        </p:txBody>
      </p:sp>
      <p:sp>
        <p:nvSpPr>
          <p:cNvPr id="12" name="Code Card"/>
          <p:cNvSpPr/>
          <p:nvPr/>
        </p:nvSpPr>
        <p:spPr>
          <a:xfrm>
            <a:off x="457200" y="1874520"/>
            <a:ext cx="4572000" cy="2834640"/>
          </a:xfrm>
          <a:prstGeom prst="roundRect">
            <a:avLst>
              <a:gd name="adj" fmla="val 4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&lt;form method="get"&gt;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&lt;input type="text" /&gt;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&lt;input type="password" /&gt;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&lt;input type="number" /&gt;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&lt;textarea&gt; &lt;/textarea&gt;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&lt;select&gt;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&lt;option value="1"&gt;Apple&lt;/option&gt;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&lt;option value="2"&gt;Mango&lt;/option&gt;</a:t>
            </a:r>
          </a:p>
          <a:p>
            <a:pPr marL="54864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&lt;option value="3"&gt;Guava&lt;/option&gt;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&lt;/select&gt;</a:t>
            </a:r>
          </a:p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&lt;/form&gt;</a:t>
            </a:r>
          </a:p>
        </p:txBody>
      </p:sp>
      <p:sp>
        <p:nvSpPr>
          <p:cNvPr id="13" name="Output Caption"/>
          <p:cNvSpPr txBox="1"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Output in the browser</a:t>
            </a:r>
          </a:p>
        </p:txBody>
      </p:sp>
      <p:sp>
        <p:nvSpPr>
          <p:cNvPr id="14" name="Output Card"/>
          <p:cNvSpPr/>
          <p:nvPr/>
        </p:nvSpPr>
        <p:spPr>
          <a:xfrm>
            <a:off x="5303520" y="1874520"/>
            <a:ext cx="3200400" cy="28346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5" name="Text Input"/>
          <p:cNvSpPr/>
          <p:nvPr/>
        </p:nvSpPr>
        <p:spPr>
          <a:xfrm>
            <a:off x="5577840" y="205740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6" name="Password Input"/>
          <p:cNvSpPr/>
          <p:nvPr/>
        </p:nvSpPr>
        <p:spPr>
          <a:xfrm>
            <a:off x="5577840" y="2532888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••••••••</a:t>
            </a:r>
          </a:p>
        </p:txBody>
      </p:sp>
      <p:sp>
        <p:nvSpPr>
          <p:cNvPr id="17" name="Number Input"/>
          <p:cNvSpPr/>
          <p:nvPr/>
        </p:nvSpPr>
        <p:spPr>
          <a:xfrm>
            <a:off x="5577840" y="3008376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42</a:t>
            </a:r>
          </a:p>
        </p:txBody>
      </p:sp>
      <p:sp>
        <p:nvSpPr>
          <p:cNvPr id="18" name="Textarea"/>
          <p:cNvSpPr/>
          <p:nvPr/>
        </p:nvSpPr>
        <p:spPr>
          <a:xfrm>
            <a:off x="5577840" y="3483864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9" name="Select Box"/>
          <p:cNvSpPr/>
          <p:nvPr/>
        </p:nvSpPr>
        <p:spPr>
          <a:xfrm>
            <a:off x="5577840" y="4270248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Apple</a:t>
            </a:r>
          </a:p>
        </p:txBody>
      </p:sp>
      <p:sp>
        <p:nvSpPr>
          <p:cNvPr id="20" name="Select Arrow"/>
          <p:cNvSpPr txBox="1"/>
          <p:nvPr/>
        </p:nvSpPr>
        <p:spPr>
          <a:xfrm>
            <a:off x="7863840" y="4270248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900" b="0" dirty="0">
                <a:solidFill>
                  <a:srgbClr val="767676"/>
                </a:solidFill>
                <a:latin typeface="Calibri"/>
                <a:cs typeface="Calibri"/>
              </a:rPr>
              <a:t>▼</a:t>
            </a:r>
          </a:p>
        </p:txBody>
      </p:sp>
      <p:sp>
        <p:nvSpPr>
          <p:cNvPr id="21" name="Method Caption"/>
          <p:cNvSpPr txBox="1"/>
          <p:nvPr/>
        </p:nvSpPr>
        <p:spPr>
          <a:xfrm>
            <a:off x="8778240" y="14630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method="get | post"</a:t>
            </a:r>
          </a:p>
        </p:txBody>
      </p:sp>
      <p:sp>
        <p:nvSpPr>
          <p:cNvPr id="22" name="GET Card"/>
          <p:cNvSpPr/>
          <p:nvPr/>
        </p:nvSpPr>
        <p:spPr>
          <a:xfrm>
            <a:off x="8778240" y="18745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GET</a:t>
            </a:r>
          </a:p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Data is appended to the URL, so it is visible. Can be bookmarked, size is limited. Use for search forms.</a:t>
            </a:r>
          </a:p>
        </p:txBody>
      </p:sp>
      <p:sp>
        <p:nvSpPr>
          <p:cNvPr id="23" name="POST Card"/>
          <p:cNvSpPr/>
          <p:nvPr/>
        </p:nvSpPr>
        <p:spPr>
          <a:xfrm>
            <a:off x="8778240" y="33375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POST</a:t>
            </a:r>
          </a:p>
          <a:p>
            <a:pPr algn="l"/>
            <a:r>
              <a:rPr lang="en-US" sz="1300" b="0" dirty="0">
                <a:solidFill>
                  <a:srgbClr val="1F2A1F"/>
                </a:solidFill>
                <a:latin typeface="Calibri"/>
                <a:cs typeface="Calibri"/>
              </a:rPr>
              <a:t>Data goes in the request body, hidden from the URL. Use for login, passwords and uploads.</a:t>
            </a:r>
          </a:p>
        </p:txBody>
      </p:sp>
      <p:sp>
        <p:nvSpPr>
          <p:cNvPr id="24" name="Nested Warning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22225">
            <a:solidFill>
              <a:srgbClr val="C0392B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5" name="Nested Title"/>
          <p:cNvSpPr txBox="1"/>
          <p:nvPr/>
        </p:nvSpPr>
        <p:spPr>
          <a:xfrm>
            <a:off x="685800" y="50749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800" b="1" dirty="0">
                <a:solidFill>
                  <a:srgbClr val="C0392B"/>
                </a:solidFill>
                <a:latin typeface="Calibri"/>
                <a:cs typeface="Calibri"/>
              </a:rPr>
              <a:t>Nested forms are not allowed</a:t>
            </a:r>
          </a:p>
        </p:txBody>
      </p:sp>
      <p:sp>
        <p:nvSpPr>
          <p:cNvPr id="26" name="Nested Code"/>
          <p:cNvSpPr/>
          <p:nvPr/>
        </p:nvSpPr>
        <p:spPr>
          <a:xfrm>
            <a:off x="3840480" y="507492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1F4A24"/>
          </a:solidFill>
          <a:ln>
            <a:noFill/>
          </a:ln>
        </p:spPr>
        <p:txBody>
          <a:bodyPr wrap="square" lIns="228600" tIns="36576" rIns="228600" bIns="36576" anchor="ctr">
            <a:noAutofit/>
          </a:bodyPr>
          <a:lstStyle/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&lt;form&gt;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&lt;form&gt; &lt;!-- not allowed --&gt;</a:t>
            </a:r>
          </a:p>
          <a:p>
            <a:pPr marL="27432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&lt;/form&gt;</a:t>
            </a:r>
          </a:p>
          <a:p>
            <a:pPr marL="0" indent="0" algn="l"/>
            <a:r>
              <a:rPr lang="en-US" sz="1200" b="0" dirty="0">
                <a:solidFill>
                  <a:srgbClr val="E8F5E9"/>
                </a:solidFill>
                <a:latin typeface="Courier New"/>
                <a:cs typeface="Courier New"/>
              </a:rPr>
              <a:t>&lt;/form&gt;</a:t>
            </a:r>
          </a:p>
        </p:txBody>
      </p:sp>
      <p:sp>
        <p:nvSpPr>
          <p:cNvPr id="27" name="Nested Text"/>
          <p:cNvSpPr txBox="1"/>
          <p:nvPr/>
        </p:nvSpPr>
        <p:spPr>
          <a:xfrm>
            <a:off x="7498080" y="507492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400" b="0" dirty="0">
                <a:solidFill>
                  <a:srgbClr val="1F2A1F"/>
                </a:solidFill>
                <a:latin typeface="Calibri"/>
                <a:cs typeface="Calibri"/>
              </a:rPr>
              <a:t>A &lt;form&gt; cannot be placed inside another &lt;form&gt;. The browser ignores the inner tag, so keep forms side by side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Introduction to CSS</a:t>
            </a:r>
          </a:p>
        </p:txBody>
      </p:sp>
      <p:sp>
        <p:nvSpPr>
          <p:cNvPr id="11" name="CSS Definition"/>
          <p:cNvSpPr txBox="1"/>
          <p:nvPr/>
        </p:nvSpPr>
        <p:spPr>
          <a:xfrm>
            <a:off x="457200" y="146304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algn="l"/>
            <a:r>
              <a:rPr lang="en-US" sz="1500" b="0" dirty="0">
                <a:solidFill>
                  <a:srgbClr val="1F2A1F"/>
                </a:solidFill>
                <a:latin typeface="Calibri"/>
                <a:cs typeface="Calibri"/>
              </a:rPr>
              <a:t>CSS (Cascading Style Sheets) controls the look and layout of HTML pages: colours, fonts, spacing and positioning.</a:t>
            </a:r>
          </a:p>
        </p:txBody>
      </p:sp>
      <p:sp>
        <p:nvSpPr>
          <p:cNvPr id="12" name="Types Caption"/>
          <p:cNvSpPr txBox="1"/>
          <p:nvPr/>
        </p:nvSpPr>
        <p:spPr>
          <a:xfrm>
            <a:off x="457200" y="22860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Types of CSS</a:t>
            </a:r>
          </a:p>
        </p:txBody>
      </p:sp>
      <p:sp>
        <p:nvSpPr>
          <p:cNvPr id="13" name="Type 1 Card"/>
          <p:cNvSpPr/>
          <p:nvPr/>
        </p:nvSpPr>
        <p:spPr>
          <a:xfrm>
            <a:off x="457200" y="269748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4" name="Type 1 Badge"/>
          <p:cNvSpPr/>
          <p:nvPr/>
        </p:nvSpPr>
        <p:spPr>
          <a:xfrm>
            <a:off x="640080" y="3035808"/>
            <a:ext cx="420624" cy="420624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Type 1 Text"/>
          <p:cNvSpPr txBox="1"/>
          <p:nvPr/>
        </p:nvSpPr>
        <p:spPr>
          <a:xfrm>
            <a:off x="1280160" y="278892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Inline CSS</a:t>
            </a:r>
          </a:p>
          <a:p>
            <a:pPr algn="l"/>
            <a:r>
              <a:rPr lang="en-US" sz="1200" b="1" dirty="0">
                <a:solidFill>
                  <a:srgbClr val="1F2A1F"/>
                </a:solidFill>
                <a:latin typeface="Courier New"/>
                <a:cs typeface="Courier New"/>
              </a:rPr>
              <a:t>&lt;p style="color:green;"&gt;Hello&lt;/p&gt;</a:t>
            </a:r>
          </a:p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Written inside the tag using the style attribute</a:t>
            </a:r>
          </a:p>
        </p:txBody>
      </p:sp>
      <p:sp>
        <p:nvSpPr>
          <p:cNvPr id="16" name="Type 2 Card"/>
          <p:cNvSpPr/>
          <p:nvPr/>
        </p:nvSpPr>
        <p:spPr>
          <a:xfrm>
            <a:off x="457200" y="388620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7" name="Type 2 Badge"/>
          <p:cNvSpPr/>
          <p:nvPr/>
        </p:nvSpPr>
        <p:spPr>
          <a:xfrm>
            <a:off x="640080" y="4224528"/>
            <a:ext cx="420624" cy="420624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Type 2 Text"/>
          <p:cNvSpPr txBox="1"/>
          <p:nvPr/>
        </p:nvSpPr>
        <p:spPr>
          <a:xfrm>
            <a:off x="1280160" y="39776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Internal CSS</a:t>
            </a:r>
          </a:p>
          <a:p>
            <a:pPr algn="l"/>
            <a:r>
              <a:rPr lang="en-US" sz="1200" b="1" dirty="0">
                <a:solidFill>
                  <a:srgbClr val="1F2A1F"/>
                </a:solidFill>
                <a:latin typeface="Courier New"/>
                <a:cs typeface="Courier New"/>
              </a:rPr>
              <a:t>&lt;style&gt; p { color: green; } &lt;/style&gt;</a:t>
            </a:r>
          </a:p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Written in a &lt;style&gt; tag inside &lt;head&gt;</a:t>
            </a:r>
          </a:p>
        </p:txBody>
      </p:sp>
      <p:sp>
        <p:nvSpPr>
          <p:cNvPr id="19" name="Type 3 Card"/>
          <p:cNvSpPr/>
          <p:nvPr/>
        </p:nvSpPr>
        <p:spPr>
          <a:xfrm>
            <a:off x="457200" y="507492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0" name="Type 3 Badge"/>
          <p:cNvSpPr/>
          <p:nvPr/>
        </p:nvSpPr>
        <p:spPr>
          <a:xfrm>
            <a:off x="640080" y="5413248"/>
            <a:ext cx="420624" cy="420624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" name="Type 3 Text"/>
          <p:cNvSpPr txBox="1"/>
          <p:nvPr/>
        </p:nvSpPr>
        <p:spPr>
          <a:xfrm>
            <a:off x="1280160" y="516636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External CSS</a:t>
            </a:r>
          </a:p>
          <a:p>
            <a:pPr algn="l"/>
            <a:r>
              <a:rPr lang="en-US" sz="1200" b="1" dirty="0">
                <a:solidFill>
                  <a:srgbClr val="1F2A1F"/>
                </a:solidFill>
                <a:latin typeface="Courier New"/>
                <a:cs typeface="Courier New"/>
              </a:rPr>
              <a:t>&lt;link rel="stylesheet" href="style.css" /&gt;</a:t>
            </a:r>
          </a:p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Kept in a separate .css file and linked to the page</a:t>
            </a:r>
          </a:p>
        </p:txBody>
      </p:sp>
      <p:sp>
        <p:nvSpPr>
          <p:cNvPr id="22" name="Box Caption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CSS Box Model</a:t>
            </a:r>
          </a:p>
        </p:txBody>
      </p:sp>
      <p:sp>
        <p:nvSpPr>
          <p:cNvPr id="23" name="Margin Area"/>
          <p:cNvSpPr/>
          <p:nvPr/>
        </p:nvSpPr>
        <p:spPr>
          <a:xfrm>
            <a:off x="6583680" y="1874520"/>
            <a:ext cx="5120640" cy="3017520"/>
          </a:xfrm>
          <a:prstGeom prst="rect">
            <a:avLst/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4" name="Margin Label"/>
          <p:cNvSpPr txBox="1"/>
          <p:nvPr/>
        </p:nvSpPr>
        <p:spPr>
          <a:xfrm>
            <a:off x="6583680" y="1965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8A6100"/>
                </a:solidFill>
                <a:latin typeface="Calibri"/>
                <a:cs typeface="Calibri"/>
              </a:rPr>
              <a:t>MARGIN</a:t>
            </a:r>
          </a:p>
        </p:txBody>
      </p:sp>
      <p:sp>
        <p:nvSpPr>
          <p:cNvPr id="25" name="Border and Padding"/>
          <p:cNvSpPr/>
          <p:nvPr/>
        </p:nvSpPr>
        <p:spPr>
          <a:xfrm>
            <a:off x="7223760" y="2514600"/>
            <a:ext cx="3840480" cy="1737360"/>
          </a:xfrm>
          <a:prstGeom prst="rect">
            <a:avLst/>
          </a:prstGeom>
          <a:solidFill>
            <a:srgbClr val="E6F1E6"/>
          </a:solidFill>
          <a:ln w="6350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6" name="Padding Label"/>
          <p:cNvSpPr txBox="1"/>
          <p:nvPr/>
        </p:nvSpPr>
        <p:spPr>
          <a:xfrm>
            <a:off x="7223760" y="25877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1F4A24"/>
                </a:solidFill>
                <a:latin typeface="Calibri"/>
                <a:cs typeface="Calibri"/>
              </a:rPr>
              <a:t>PADDING</a:t>
            </a:r>
          </a:p>
        </p:txBody>
      </p:sp>
      <p:sp>
        <p:nvSpPr>
          <p:cNvPr id="27" name="Content Box"/>
          <p:cNvSpPr/>
          <p:nvPr/>
        </p:nvSpPr>
        <p:spPr>
          <a:xfrm>
            <a:off x="7680960" y="2971800"/>
            <a:ext cx="2926080" cy="822960"/>
          </a:xfrm>
          <a:prstGeom prst="rect">
            <a:avLst/>
          </a:prstGeom>
          <a:solidFill>
            <a:srgbClr val="DCEBF7"/>
          </a:solidFill>
          <a:ln w="19050">
            <a:solidFill>
              <a:srgbClr val="2F6DA3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F6DA3"/>
                </a:solidFill>
                <a:latin typeface="Calibri"/>
                <a:cs typeface="Calibri"/>
              </a:rPr>
              <a:t>Content</a:t>
            </a:r>
          </a:p>
        </p:txBody>
      </p:sp>
      <p:sp>
        <p:nvSpPr>
          <p:cNvPr id="28" name="Border Pill"/>
          <p:cNvSpPr/>
          <p:nvPr/>
        </p:nvSpPr>
        <p:spPr>
          <a:xfrm>
            <a:off x="9966960" y="413308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6B34"/>
            </a:solidFill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F4A24"/>
                </a:solidFill>
                <a:latin typeface="Calibri"/>
                <a:cs typeface="Calibri"/>
              </a:rPr>
              <a:t>BORDER</a:t>
            </a:r>
          </a:p>
        </p:txBody>
      </p:sp>
      <p:sp>
        <p:nvSpPr>
          <p:cNvPr id="29" name="Margin Diff"/>
          <p:cNvSpPr/>
          <p:nvPr/>
        </p:nvSpPr>
        <p:spPr>
          <a:xfrm>
            <a:off x="6583680" y="502920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FFF4D1"/>
          </a:solidFill>
          <a:ln w="19050">
            <a:solidFill>
              <a:srgbClr val="D9A400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8A6100"/>
                </a:solidFill>
                <a:latin typeface="Calibri"/>
                <a:cs typeface="Calibri"/>
              </a:rPr>
              <a:t>Margin</a:t>
            </a:r>
          </a:p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Space outside the border. It separates the element from other elements.</a:t>
            </a:r>
          </a:p>
        </p:txBody>
      </p:sp>
      <p:sp>
        <p:nvSpPr>
          <p:cNvPr id="30" name="Padding Diff"/>
          <p:cNvSpPr/>
          <p:nvPr/>
        </p:nvSpPr>
        <p:spPr>
          <a:xfrm>
            <a:off x="9235440" y="502920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E6F1E6"/>
          </a:solidFill>
          <a:ln w="19050">
            <a:solidFill>
              <a:srgbClr val="2E6B34"/>
            </a:solidFill>
          </a:ln>
        </p:spPr>
        <p:txBody>
          <a:bodyPr wrap="square" lIns="137160" tIns="36576" rIns="13716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1F4A24"/>
                </a:solidFill>
                <a:latin typeface="Calibri"/>
                <a:cs typeface="Calibri"/>
              </a:rPr>
              <a:t>Padding</a:t>
            </a:r>
          </a:p>
          <a:p>
            <a:pPr algn="l"/>
            <a:r>
              <a:rPr lang="en-US" sz="1200" b="0" dirty="0">
                <a:solidFill>
                  <a:srgbClr val="1F2A1F"/>
                </a:solidFill>
                <a:latin typeface="Calibri"/>
                <a:cs typeface="Calibri"/>
              </a:rPr>
              <a:t>Space inside the border, between the content and the border.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SVG: Scalable Vector Graphics</a:t>
            </a:r>
          </a:p>
        </p:txBody>
      </p:sp>
      <p:sp>
        <p:nvSpPr>
          <p:cNvPr id="11" name="Meaning Heading"/>
          <p:cNvSpPr txBox="1"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2200" b="1" dirty="0">
                <a:solidFill>
                  <a:srgbClr val="2E6B34"/>
                </a:solidFill>
                <a:latin typeface="Calibri"/>
                <a:cs typeface="Calibri"/>
              </a:rPr>
              <a:t>What is SVG?</a:t>
            </a:r>
          </a:p>
        </p:txBody>
      </p:sp>
      <p:sp>
        <p:nvSpPr>
          <p:cNvPr id="12" name="Meaning Text"/>
          <p:cNvSpPr txBox="1"/>
          <p:nvPr/>
        </p:nvSpPr>
        <p:spPr>
          <a:xfrm>
            <a:off x="457200" y="192024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algn="l"/>
            <a:r>
              <a:rPr lang="en-US" sz="1600" b="0" dirty="0">
                <a:solidFill>
                  <a:srgbClr val="1F2A1F"/>
                </a:solidFill>
                <a:latin typeface="Calibri"/>
                <a:cs typeface="Calibri"/>
              </a:rPr>
              <a:t>SVG stands for Scalable Vector Graphics. It is an XML-based format for drawing 2D graphics in the browser using tags instead of image files.</a:t>
            </a:r>
          </a:p>
        </p:txBody>
      </p:sp>
      <p:sp>
        <p:nvSpPr>
          <p:cNvPr id="13" name="Point 1 Badge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" name="Point 1 Text"/>
          <p:cNvSpPr txBox="1"/>
          <p:nvPr/>
        </p:nvSpPr>
        <p:spPr>
          <a:xfrm>
            <a:off x="1097280" y="31089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500" b="0" dirty="0">
                <a:solidFill>
                  <a:srgbClr val="1F2A1F"/>
                </a:solidFill>
                <a:latin typeface="Calibri"/>
                <a:cs typeface="Calibri"/>
              </a:rPr>
              <a:t>Vector based: shapes are defined by maths, not pixels, so they stay sharp at any size</a:t>
            </a:r>
          </a:p>
        </p:txBody>
      </p:sp>
      <p:sp>
        <p:nvSpPr>
          <p:cNvPr id="15" name="Point 2 Badge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6" name="Point 2 Text"/>
          <p:cNvSpPr txBox="1"/>
          <p:nvPr/>
        </p:nvSpPr>
        <p:spPr>
          <a:xfrm>
            <a:off x="1097280" y="38862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500" b="0" dirty="0">
                <a:solidFill>
                  <a:srgbClr val="1F2A1F"/>
                </a:solidFill>
                <a:latin typeface="Calibri"/>
                <a:cs typeface="Calibri"/>
              </a:rPr>
              <a:t>Written as XML tags directly inside the HTML page</a:t>
            </a:r>
          </a:p>
        </p:txBody>
      </p:sp>
      <p:sp>
        <p:nvSpPr>
          <p:cNvPr id="17" name="Point 3 Badge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Point 3 Text"/>
          <p:cNvSpPr txBox="1"/>
          <p:nvPr/>
        </p:nvSpPr>
        <p:spPr>
          <a:xfrm>
            <a:off x="1097280" y="46634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500" b="0" dirty="0">
                <a:solidFill>
                  <a:srgbClr val="1F2A1F"/>
                </a:solidFill>
                <a:latin typeface="Calibri"/>
                <a:cs typeface="Calibri"/>
              </a:rPr>
              <a:t>Built-in shapes: &lt;circle&gt;, &lt;rect&gt;, &lt;ellipse&gt;, &lt;line&gt;, &lt;path&gt;</a:t>
            </a:r>
          </a:p>
        </p:txBody>
      </p:sp>
      <p:sp>
        <p:nvSpPr>
          <p:cNvPr id="19" name="Point 4 Badge"/>
          <p:cNvSpPr/>
          <p:nvPr/>
        </p:nvSpPr>
        <p:spPr>
          <a:xfrm>
            <a:off x="457200" y="5532120"/>
            <a:ext cx="457200" cy="457200"/>
          </a:xfrm>
          <a:prstGeom prst="ellipse">
            <a:avLst/>
          </a:prstGeom>
          <a:solidFill>
            <a:srgbClr val="2E6B34"/>
          </a:solidFill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Point 4 Text"/>
          <p:cNvSpPr txBox="1"/>
          <p:nvPr/>
        </p:nvSpPr>
        <p:spPr>
          <a:xfrm>
            <a:off x="1097280" y="54406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500" b="0" dirty="0">
                <a:solidFill>
                  <a:srgbClr val="1F2A1F"/>
                </a:solidFill>
                <a:latin typeface="Calibri"/>
                <a:cs typeface="Calibri"/>
              </a:rPr>
              <a:t>Can be styled with CSS and controlled with JavaScript</a:t>
            </a:r>
          </a:p>
        </p:txBody>
      </p:sp>
      <p:sp>
        <p:nvSpPr>
          <p:cNvPr id="21" name="SVG Code Caption"/>
          <p:cNvSpPr txBox="1"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/>
            <a:r>
              <a:rPr lang="en-US" sz="1600" b="1" dirty="0">
                <a:solidFill>
                  <a:srgbClr val="2E6B34"/>
                </a:solidFill>
                <a:latin typeface="Calibri"/>
                <a:cs typeface="Calibri"/>
              </a:rPr>
              <a:t>Code</a:t>
            </a:r>
          </a:p>
        </p:txBody>
      </p:sp>
      <p:sp>
        <p:nvSpPr>
          <p:cNvPr id="22" name="SVG Code Card"/>
          <p:cNvSpPr/>
          <p:nvPr/>
        </p:nvSpPr>
        <p:spPr>
          <a:xfrm>
            <a:off x="6492240" y="187452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F4A24"/>
          </a:solidFill>
          <a:ln>
            <a:noFill/>
          </a:ln>
        </p:spPr>
        <p:txBody>
          <a:bodyPr wrap="square" lIns="274320" tIns="36576" rIns="274320" bIns="36576" anchor="ctr">
            <a:noAutofit/>
          </a:bodyPr>
          <a:lstStyle/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&lt;svg width="200" height="200"&gt;</a:t>
            </a:r>
          </a:p>
          <a:p>
            <a:pPr marL="27432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&lt;circle cx="100" cy="100" r="80"</a:t>
            </a:r>
          </a:p>
          <a:p>
            <a:pPr marL="82296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fill="gold" stroke="green"</a:t>
            </a:r>
          </a:p>
          <a:p>
            <a:pPr marL="82296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stroke-width="6" /&gt;</a:t>
            </a:r>
          </a:p>
          <a:p>
            <a:pPr marL="0" indent="0" algn="l"/>
            <a:r>
              <a:rPr lang="en-US" sz="1300" b="0" dirty="0">
                <a:solidFill>
                  <a:srgbClr val="E8F5E9"/>
                </a:solidFill>
                <a:latin typeface="Courier New"/>
                <a:cs typeface="Courier New"/>
              </a:rPr>
              <a:t>&lt;/svg&gt;</a:t>
            </a:r>
          </a:p>
        </p:txBody>
      </p:sp>
      <p:sp>
        <p:nvSpPr>
          <p:cNvPr id="23" name="SVG Output Card"/>
          <p:cNvSpPr/>
          <p:nvPr/>
        </p:nvSpPr>
        <p:spPr>
          <a:xfrm>
            <a:off x="6492240" y="3749040"/>
            <a:ext cx="5212080" cy="2560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9050">
            <a:solidFill>
              <a:srgbClr val="2E6B3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4" name="SVG Output Label"/>
          <p:cNvSpPr txBox="1"/>
          <p:nvPr/>
        </p:nvSpPr>
        <p:spPr>
          <a:xfrm>
            <a:off x="6675120" y="38221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>
            <a:noAutofit/>
          </a:bodyPr>
          <a:lstStyle/>
          <a:p>
            <a:pPr algn="l"/>
            <a:r>
              <a:rPr lang="en-US" sz="1200" b="1" dirty="0">
                <a:solidFill>
                  <a:srgbClr val="2E6B34"/>
                </a:solidFill>
                <a:latin typeface="Calibri"/>
                <a:cs typeface="Calibri"/>
              </a:rPr>
              <a:t>Output</a:t>
            </a:r>
          </a:p>
        </p:txBody>
      </p:sp>
      <p:sp>
        <p:nvSpPr>
          <p:cNvPr id="25" name="Circle Output"/>
          <p:cNvSpPr/>
          <p:nvPr/>
        </p:nvSpPr>
        <p:spPr>
          <a:xfrm>
            <a:off x="6812280" y="4160520"/>
            <a:ext cx="2011680" cy="2011680"/>
          </a:xfrm>
          <a:prstGeom prst="ellipse">
            <a:avLst/>
          </a:prstGeom>
          <a:solidFill>
            <a:srgbClr val="FFD700"/>
          </a:solidFill>
          <a:ln w="57150">
            <a:solidFill>
              <a:srgbClr val="228B22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6" name="Attr Notes"/>
          <p:cNvSpPr txBox="1"/>
          <p:nvPr/>
        </p:nvSpPr>
        <p:spPr>
          <a:xfrm>
            <a:off x="9098280" y="4297680"/>
            <a:ext cx="246888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1300" b="1" dirty="0">
                <a:solidFill>
                  <a:srgbClr val="1F4A24"/>
                </a:solidFill>
                <a:latin typeface="Courier New"/>
                <a:cs typeface="Courier New"/>
              </a:rPr>
              <a:t>cx, cy</a:t>
            </a:r>
            <a:r>
              <a:rPr lang="en-US" sz="1300" dirty="0">
                <a:solidFill>
                  <a:srgbClr val="1F2A1F"/>
                </a:solidFill>
                <a:latin typeface="Calibri"/>
              </a:rPr>
              <a:t>: Centre of the circle</a:t>
            </a:r>
          </a:p>
          <a:p>
            <a:pPr algn="l">
              <a:spcAft>
                <a:spcPts val="500"/>
              </a:spcAft>
            </a:pPr>
            <a:r>
              <a:rPr lang="en-US" sz="1300" b="1" dirty="0">
                <a:solidFill>
                  <a:srgbClr val="1F4A24"/>
                </a:solidFill>
                <a:latin typeface="Courier New"/>
                <a:cs typeface="Courier New"/>
              </a:rPr>
              <a:t>r</a:t>
            </a:r>
            <a:r>
              <a:rPr lang="en-US" sz="1300" dirty="0">
                <a:solidFill>
                  <a:srgbClr val="1F2A1F"/>
                </a:solidFill>
                <a:latin typeface="Calibri"/>
              </a:rPr>
              <a:t>: Radius of the circle</a:t>
            </a:r>
          </a:p>
          <a:p>
            <a:pPr algn="l">
              <a:spcAft>
                <a:spcPts val="500"/>
              </a:spcAft>
            </a:pPr>
            <a:r>
              <a:rPr lang="en-US" sz="1300" b="1" dirty="0">
                <a:solidFill>
                  <a:srgbClr val="1F4A24"/>
                </a:solidFill>
                <a:latin typeface="Courier New"/>
                <a:cs typeface="Courier New"/>
              </a:rPr>
              <a:t>fill</a:t>
            </a:r>
            <a:r>
              <a:rPr lang="en-US" sz="1300" dirty="0">
                <a:solidFill>
                  <a:srgbClr val="1F2A1F"/>
                </a:solidFill>
                <a:latin typeface="Calibri"/>
              </a:rPr>
              <a:t>: Inside colour</a:t>
            </a:r>
          </a:p>
          <a:p>
            <a:pPr algn="l">
              <a:spcAft>
                <a:spcPts val="500"/>
              </a:spcAft>
            </a:pPr>
            <a:r>
              <a:rPr lang="en-US" sz="1300" b="1" dirty="0">
                <a:solidFill>
                  <a:srgbClr val="1F4A24"/>
                </a:solidFill>
                <a:latin typeface="Courier New"/>
                <a:cs typeface="Courier New"/>
              </a:rPr>
              <a:t>stroke</a:t>
            </a:r>
            <a:r>
              <a:rPr lang="en-US" sz="1300" dirty="0">
                <a:solidFill>
                  <a:srgbClr val="1F2A1F"/>
                </a:solidFill>
                <a:latin typeface="Calibri"/>
              </a:rPr>
              <a:t>: Outline colour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493</Words>
  <Application>Microsoft Office PowerPoint</Application>
  <PresentationFormat>Widescreen</PresentationFormat>
  <Paragraphs>77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Courier New</vt:lpstr>
      <vt:lpstr>Roboto</vt:lpstr>
      <vt:lpstr>Wingdings</vt:lpstr>
      <vt:lpstr>Office Theme</vt:lpstr>
      <vt:lpstr>Full Stack Development - 1 Session 2</vt:lpstr>
      <vt:lpstr>Web Forms: Nitty-Gritty</vt:lpstr>
      <vt:lpstr>Introduction to CSS</vt:lpstr>
      <vt:lpstr>SVG: Scalable Vector 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Gautam Mukherjee</cp:lastModifiedBy>
  <cp:revision>46</cp:revision>
  <dcterms:created xsi:type="dcterms:W3CDTF">2024-10-06T15:26:34Z</dcterms:created>
  <dcterms:modified xsi:type="dcterms:W3CDTF">2026-10-10T16:41:40Z</dcterms:modified>
</cp:coreProperties>
</file>